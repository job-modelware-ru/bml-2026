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51BFC050-5AB0-00F5-6F44-06D8BFF37F31}">
          <p14:sldIdLst>
            <p14:sldId id="256"/>
            <p14:sldId id="257"/>
            <p14:sldId id="258"/>
          </p14:sldIdLst>
        </p14:section>
        <p14:section name="Практика" id="{FF31918F-922E-B880-F8C9-C2C93622BA1D}">
          <p14:sldIdLst>
            <p14:sldId id="259"/>
            <p14:sldId id="260"/>
            <p14:sldId id="261"/>
            <p14:sldId id="262"/>
            <p14:sldId id="263"/>
          </p14:sldIdLst>
        </p14:section>
        <p14:section name="Выводы" id="{709B5680-A973-611C-38E1-988B2E022E7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64575" autoAdjust="0"/>
  </p:normalViewPr>
  <p:slideViewPr>
    <p:cSldViewPr snapToGrid="0" snapToObjects="1">
      <p:cViewPr varScale="1">
        <p:scale>
          <a:sx n="53" d="100"/>
          <a:sy n="53" d="100"/>
        </p:scale>
        <p:origin x="181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F2B"/>
                </a:solidFill>
                <a:latin typeface="+mn-lt"/>
              </a:defRPr>
            </a:pPr>
            <a:r>
              <a:rPr lang="ru-RU" sz="1300" b="0" i="0" u="none" strike="noStrike">
                <a:solidFill>
                  <a:srgbClr val="1A1F2B"/>
                </a:solidFill>
                <a:latin typeface="+mn-lt"/>
              </a:rPr>
              <a:t>Размер файла, МБ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zlib</c:v>
                </c:pt>
              </c:strCache>
            </c:strRef>
          </c:tx>
          <c:spPr>
            <a:ln w="25400" cap="flat">
              <a:solidFill>
                <a:srgbClr val="0E7C7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20.149999999999999</c:v>
                </c:pt>
                <c:pt idx="1">
                  <c:v>18.64</c:v>
                </c:pt>
                <c:pt idx="2">
                  <c:v>17.79</c:v>
                </c:pt>
                <c:pt idx="3">
                  <c:v>18.670000000000002</c:v>
                </c:pt>
                <c:pt idx="4">
                  <c:v>17.36</c:v>
                </c:pt>
                <c:pt idx="5">
                  <c:v>16.600000000000001</c:v>
                </c:pt>
                <c:pt idx="6">
                  <c:v>16.41</c:v>
                </c:pt>
                <c:pt idx="7">
                  <c:v>16.2</c:v>
                </c:pt>
                <c:pt idx="8">
                  <c:v>16.04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44B-4A70-B0CB-52E149DEBE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bz2</c:v>
                </c:pt>
              </c:strCache>
            </c:strRef>
          </c:tx>
          <c:spPr>
            <a:ln w="25400" cap="flat">
              <a:solidFill>
                <a:srgbClr val="2E5E8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5E8C"/>
              </a:solidFill>
              <a:ln w="9525" cap="flat">
                <a:solidFill>
                  <a:srgbClr val="2E5E8C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13.54</c:v>
                </c:pt>
                <c:pt idx="1">
                  <c:v>13.04</c:v>
                </c:pt>
                <c:pt idx="2">
                  <c:v>12.82</c:v>
                </c:pt>
                <c:pt idx="3">
                  <c:v>12.67</c:v>
                </c:pt>
                <c:pt idx="4">
                  <c:v>12.55</c:v>
                </c:pt>
                <c:pt idx="5">
                  <c:v>12.38</c:v>
                </c:pt>
                <c:pt idx="6">
                  <c:v>12.18</c:v>
                </c:pt>
                <c:pt idx="7">
                  <c:v>12.01</c:v>
                </c:pt>
                <c:pt idx="8">
                  <c:v>11.86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44B-4A70-B0CB-52E149DEBEC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lzma</c:v>
                </c:pt>
              </c:strCache>
            </c:strRef>
          </c:tx>
          <c:spPr>
            <a:ln w="25400" cap="flat">
              <a:solidFill>
                <a:srgbClr val="E88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892B"/>
              </a:solidFill>
              <a:ln w="9525" cap="flat">
                <a:solidFill>
                  <a:srgbClr val="E8892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12.17</c:v>
                </c:pt>
                <c:pt idx="1">
                  <c:v>11.38</c:v>
                </c:pt>
                <c:pt idx="2">
                  <c:v>10.77</c:v>
                </c:pt>
                <c:pt idx="3">
                  <c:v>10.88</c:v>
                </c:pt>
                <c:pt idx="4">
                  <c:v>9.5399999999999991</c:v>
                </c:pt>
                <c:pt idx="5">
                  <c:v>9.2200000000000006</c:v>
                </c:pt>
                <c:pt idx="6">
                  <c:v>8.89</c:v>
                </c:pt>
                <c:pt idx="7">
                  <c:v>8.68</c:v>
                </c:pt>
                <c:pt idx="8">
                  <c:v>8.56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44B-4A70-B0CB-52E149DEBEC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lz4</c:v>
                </c:pt>
              </c:strCache>
            </c:strRef>
          </c:tx>
          <c:spPr>
            <a:ln w="25400" cap="flat">
              <a:solidFill>
                <a:srgbClr val="6BAA7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6BAA75"/>
              </a:solidFill>
              <a:ln w="9525" cap="flat">
                <a:solidFill>
                  <a:srgbClr val="6BAA75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26.01</c:v>
                </c:pt>
                <c:pt idx="1">
                  <c:v>26.01</c:v>
                </c:pt>
                <c:pt idx="2">
                  <c:v>18.18</c:v>
                </c:pt>
                <c:pt idx="3">
                  <c:v>17.760000000000002</c:v>
                </c:pt>
                <c:pt idx="4">
                  <c:v>17.5</c:v>
                </c:pt>
                <c:pt idx="5">
                  <c:v>17.27</c:v>
                </c:pt>
                <c:pt idx="6">
                  <c:v>17.190000000000001</c:v>
                </c:pt>
                <c:pt idx="7">
                  <c:v>17.13</c:v>
                </c:pt>
                <c:pt idx="8">
                  <c:v>17.059999999999999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44B-4A70-B0CB-52E149DEBE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675"/>
                    </a:solidFill>
                    <a:latin typeface="+mn-lt"/>
                  </a:defRPr>
                </a:pPr>
                <a:r>
                  <a:rPr lang="ru-RU" sz="1100" b="0" i="0" u="none" strike="noStrike">
                    <a:solidFill>
                      <a:srgbClr val="5A6675"/>
                    </a:solidFill>
                    <a:latin typeface="+mn-lt"/>
                  </a:rPr>
                  <a:t>уровень сжатия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F2B"/>
                </a:solidFill>
                <a:latin typeface="+mn-lt"/>
              </a:defRPr>
            </a:pPr>
            <a:r>
              <a:rPr lang="ru-RU" sz="1300" b="0" i="0" u="none" strike="noStrike">
                <a:solidFill>
                  <a:srgbClr val="1A1F2B"/>
                </a:solidFill>
                <a:latin typeface="+mn-lt"/>
              </a:rPr>
              <a:t>Время сохранения, с (лог. шкала)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zlib</c:v>
                </c:pt>
              </c:strCache>
            </c:strRef>
          </c:tx>
          <c:spPr>
            <a:ln w="25400" cap="flat">
              <a:solidFill>
                <a:srgbClr val="0E7C7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0.61719999999999997</c:v>
                </c:pt>
                <c:pt idx="1">
                  <c:v>0.57310000000000005</c:v>
                </c:pt>
                <c:pt idx="2">
                  <c:v>0.68069999999999997</c:v>
                </c:pt>
                <c:pt idx="3">
                  <c:v>0.83169999999999999</c:v>
                </c:pt>
                <c:pt idx="4">
                  <c:v>1.0395000000000001</c:v>
                </c:pt>
                <c:pt idx="5">
                  <c:v>1.5874999999999999</c:v>
                </c:pt>
                <c:pt idx="6">
                  <c:v>2.375</c:v>
                </c:pt>
                <c:pt idx="7">
                  <c:v>7.1855000000000002</c:v>
                </c:pt>
                <c:pt idx="8">
                  <c:v>21.131499999999999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10-49CA-A176-FC016432D6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bz2</c:v>
                </c:pt>
              </c:strCache>
            </c:strRef>
          </c:tx>
          <c:spPr>
            <a:ln w="25400" cap="flat">
              <a:solidFill>
                <a:srgbClr val="2E5E8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5E8C"/>
              </a:solidFill>
              <a:ln w="9525" cap="flat">
                <a:solidFill>
                  <a:srgbClr val="2E5E8C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2.6377999999999999</c:v>
                </c:pt>
                <c:pt idx="1">
                  <c:v>2.4586999999999999</c:v>
                </c:pt>
                <c:pt idx="2">
                  <c:v>2.4636</c:v>
                </c:pt>
                <c:pt idx="3">
                  <c:v>2.4962</c:v>
                </c:pt>
                <c:pt idx="4">
                  <c:v>2.6032999999999999</c:v>
                </c:pt>
                <c:pt idx="5">
                  <c:v>2.6244000000000001</c:v>
                </c:pt>
                <c:pt idx="6">
                  <c:v>2.6878000000000002</c:v>
                </c:pt>
                <c:pt idx="7">
                  <c:v>2.6614</c:v>
                </c:pt>
                <c:pt idx="8">
                  <c:v>2.7071999999999998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10-49CA-A176-FC016432D6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lzma</c:v>
                </c:pt>
              </c:strCache>
            </c:strRef>
          </c:tx>
          <c:spPr>
            <a:ln w="25400" cap="flat">
              <a:solidFill>
                <a:srgbClr val="E88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892B"/>
              </a:solidFill>
              <a:ln w="9525" cap="flat">
                <a:solidFill>
                  <a:srgbClr val="E8892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1.8211999999999999</c:v>
                </c:pt>
                <c:pt idx="1">
                  <c:v>2.476</c:v>
                </c:pt>
                <c:pt idx="2">
                  <c:v>4.9337</c:v>
                </c:pt>
                <c:pt idx="3">
                  <c:v>10.1463</c:v>
                </c:pt>
                <c:pt idx="4">
                  <c:v>16.567900000000002</c:v>
                </c:pt>
                <c:pt idx="5">
                  <c:v>22.019400000000001</c:v>
                </c:pt>
                <c:pt idx="6">
                  <c:v>22.7759</c:v>
                </c:pt>
                <c:pt idx="7">
                  <c:v>24.034600000000001</c:v>
                </c:pt>
                <c:pt idx="8">
                  <c:v>25.8291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410-49CA-A176-FC016432D62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lz4</c:v>
                </c:pt>
              </c:strCache>
            </c:strRef>
          </c:tx>
          <c:spPr>
            <a:ln w="25400" cap="flat">
              <a:solidFill>
                <a:srgbClr val="6BAA7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6BAA75"/>
              </a:solidFill>
              <a:ln w="9525" cap="flat">
                <a:solidFill>
                  <a:srgbClr val="6BAA75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0.13600000000000001</c:v>
                </c:pt>
                <c:pt idx="1">
                  <c:v>0.1313</c:v>
                </c:pt>
                <c:pt idx="2">
                  <c:v>0.43120000000000003</c:v>
                </c:pt>
                <c:pt idx="3">
                  <c:v>0.51129999999999998</c:v>
                </c:pt>
                <c:pt idx="4">
                  <c:v>0.64290000000000003</c:v>
                </c:pt>
                <c:pt idx="5">
                  <c:v>0.81779999999999997</c:v>
                </c:pt>
                <c:pt idx="6">
                  <c:v>1.0862000000000001</c:v>
                </c:pt>
                <c:pt idx="7">
                  <c:v>1.4895</c:v>
                </c:pt>
                <c:pt idx="8">
                  <c:v>2.4256000000000002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410-49CA-A176-FC016432D6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675"/>
                    </a:solidFill>
                    <a:latin typeface="+mn-lt"/>
                  </a:defRPr>
                </a:pPr>
                <a:r>
                  <a:rPr lang="ru-RU" sz="1100" b="0" i="0" u="none" strike="noStrike">
                    <a:solidFill>
                      <a:srgbClr val="5A6675"/>
                    </a:solidFill>
                    <a:latin typeface="+mn-lt"/>
                  </a:rPr>
                  <a:t>уровень сжатия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"/>
          <c:min val="0.1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F2B"/>
                </a:solidFill>
                <a:latin typeface="+mn-lt"/>
              </a:defRPr>
            </a:pPr>
            <a:r>
              <a:rPr lang="ru-RU" sz="1300" b="0" i="0" u="none" strike="noStrike">
                <a:solidFill>
                  <a:srgbClr val="1A1F2B"/>
                </a:solidFill>
                <a:latin typeface="+mn-lt"/>
              </a:rPr>
              <a:t>Время загрузки, с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zlib</c:v>
                </c:pt>
              </c:strCache>
            </c:strRef>
          </c:tx>
          <c:spPr>
            <a:ln w="25400" cap="flat">
              <a:solidFill>
                <a:srgbClr val="0E7C7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0.31459999999999999</c:v>
                </c:pt>
                <c:pt idx="1">
                  <c:v>0.29099999999999998</c:v>
                </c:pt>
                <c:pt idx="2">
                  <c:v>0.28739999999999999</c:v>
                </c:pt>
                <c:pt idx="3">
                  <c:v>0.29859999999999998</c:v>
                </c:pt>
                <c:pt idx="4">
                  <c:v>0.27900000000000003</c:v>
                </c:pt>
                <c:pt idx="5">
                  <c:v>0.27239999999999998</c:v>
                </c:pt>
                <c:pt idx="6">
                  <c:v>0.27200000000000002</c:v>
                </c:pt>
                <c:pt idx="7">
                  <c:v>0.2994</c:v>
                </c:pt>
                <c:pt idx="8">
                  <c:v>0.2853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94-4E92-AB52-7033011421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bz2</c:v>
                </c:pt>
              </c:strCache>
            </c:strRef>
          </c:tx>
          <c:spPr>
            <a:ln w="25400" cap="flat">
              <a:solidFill>
                <a:srgbClr val="2E5E8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5E8C"/>
              </a:solidFill>
              <a:ln w="9525" cap="flat">
                <a:solidFill>
                  <a:srgbClr val="2E5E8C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0.97319999999999995</c:v>
                </c:pt>
                <c:pt idx="1">
                  <c:v>0.95269999999999999</c:v>
                </c:pt>
                <c:pt idx="2">
                  <c:v>0.99539999999999995</c:v>
                </c:pt>
                <c:pt idx="3">
                  <c:v>1.0616000000000001</c:v>
                </c:pt>
                <c:pt idx="4">
                  <c:v>1.1032999999999999</c:v>
                </c:pt>
                <c:pt idx="5">
                  <c:v>1.1647000000000001</c:v>
                </c:pt>
                <c:pt idx="6">
                  <c:v>1.1628000000000001</c:v>
                </c:pt>
                <c:pt idx="7">
                  <c:v>1.1917</c:v>
                </c:pt>
                <c:pt idx="8">
                  <c:v>1.2383999999999999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94-4E92-AB52-7033011421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lzma</c:v>
                </c:pt>
              </c:strCache>
            </c:strRef>
          </c:tx>
          <c:spPr>
            <a:ln w="25400" cap="flat">
              <a:solidFill>
                <a:srgbClr val="E8892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892B"/>
              </a:solidFill>
              <a:ln w="9525" cap="flat">
                <a:solidFill>
                  <a:srgbClr val="E8892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0.68579999999999997</c:v>
                </c:pt>
                <c:pt idx="1">
                  <c:v>0.63400000000000001</c:v>
                </c:pt>
                <c:pt idx="2">
                  <c:v>0.61570000000000003</c:v>
                </c:pt>
                <c:pt idx="3">
                  <c:v>0.57599999999999996</c:v>
                </c:pt>
                <c:pt idx="4">
                  <c:v>0.54649999999999999</c:v>
                </c:pt>
                <c:pt idx="5">
                  <c:v>0.54020000000000001</c:v>
                </c:pt>
                <c:pt idx="6">
                  <c:v>0.51090000000000002</c:v>
                </c:pt>
                <c:pt idx="7">
                  <c:v>0.53900000000000003</c:v>
                </c:pt>
                <c:pt idx="8">
                  <c:v>0.51380000000000003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E94-4E92-AB52-7033011421E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lz4</c:v>
                </c:pt>
              </c:strCache>
            </c:strRef>
          </c:tx>
          <c:spPr>
            <a:ln w="25400" cap="flat">
              <a:solidFill>
                <a:srgbClr val="6BAA75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6BAA75"/>
              </a:solidFill>
              <a:ln w="9525" cap="flat">
                <a:solidFill>
                  <a:srgbClr val="6BAA75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0.1479</c:v>
                </c:pt>
                <c:pt idx="1">
                  <c:v>0.1381</c:v>
                </c:pt>
                <c:pt idx="2">
                  <c:v>0.1323</c:v>
                </c:pt>
                <c:pt idx="3">
                  <c:v>0.13800000000000001</c:v>
                </c:pt>
                <c:pt idx="4">
                  <c:v>0.1273</c:v>
                </c:pt>
                <c:pt idx="5">
                  <c:v>0.1323</c:v>
                </c:pt>
                <c:pt idx="6">
                  <c:v>0.12570000000000001</c:v>
                </c:pt>
                <c:pt idx="7">
                  <c:v>0.13009999999999999</c:v>
                </c:pt>
                <c:pt idx="8">
                  <c:v>0.13159999999999999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E94-4E92-AB52-7033011421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675"/>
                    </a:solidFill>
                    <a:latin typeface="+mn-lt"/>
                  </a:defRPr>
                </a:pPr>
                <a:r>
                  <a:rPr lang="ru-RU" sz="1100" b="0" i="0" u="none" strike="noStrike">
                    <a:solidFill>
                      <a:srgbClr val="5A6675"/>
                    </a:solidFill>
                    <a:latin typeface="+mn-lt"/>
                  </a:rPr>
                  <a:t>уровень сжатия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5585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554480"/>
            <a:ext cx="6400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84048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MMARY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5544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Сохранение и загрузка обученной модели с помощью joblib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8404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Курс «Основы машинного обучения»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Докладчик: Глеб · СПбПУ, 2026</a:t>
            </a:r>
            <a:endParaRPr lang="en-US" sz="1800" dirty="0"/>
          </a:p>
        </p:txBody>
      </p:sp>
      <p:sp>
        <p:nvSpPr>
          <p:cNvPr id="4" name="Title code panel"/>
          <p:cNvSpPr/>
          <p:nvPr/>
        </p:nvSpPr>
        <p:spPr>
          <a:xfrm>
            <a:off x="7269480" y="2011680"/>
            <a:ext cx="4343400" cy="2834640"/>
          </a:xfrm>
          <a:prstGeom prst="roundRect">
            <a:avLst>
              <a:gd name="adj" fmla="val 3871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itle code dot 0"/>
          <p:cNvSpPr/>
          <p:nvPr/>
        </p:nvSpPr>
        <p:spPr>
          <a:xfrm>
            <a:off x="7470648" y="2194560"/>
            <a:ext cx="109728" cy="109728"/>
          </a:xfrm>
          <a:prstGeom prst="ellipse">
            <a:avLst/>
          </a:prstGeom>
          <a:solidFill>
            <a:srgbClr val="E865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itle code dot 1"/>
          <p:cNvSpPr/>
          <p:nvPr/>
        </p:nvSpPr>
        <p:spPr>
          <a:xfrm>
            <a:off x="7671816" y="2194560"/>
            <a:ext cx="109728" cy="109728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itle code dot 2"/>
          <p:cNvSpPr/>
          <p:nvPr/>
        </p:nvSpPr>
        <p:spPr>
          <a:xfrm>
            <a:off x="7872984" y="2194560"/>
            <a:ext cx="109728" cy="109728"/>
          </a:xfrm>
          <a:prstGeom prst="ellipse">
            <a:avLst/>
          </a:prstGeom>
          <a:solidFill>
            <a:srgbClr val="6BAA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itle code label"/>
          <p:cNvSpPr txBox="1"/>
          <p:nvPr/>
        </p:nvSpPr>
        <p:spPr>
          <a:xfrm>
            <a:off x="8138160" y="208483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100" dirty="0"/>
          </a:p>
        </p:txBody>
      </p:sp>
      <p:sp>
        <p:nvSpPr>
          <p:cNvPr id="9" name="Title code code"/>
          <p:cNvSpPr txBox="1"/>
          <p:nvPr/>
        </p:nvSpPr>
        <p:spPr>
          <a:xfrm>
            <a:off x="7498080" y="2468880"/>
            <a:ext cx="39319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6FD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8C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один раз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D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.dump(model, </a:t>
            </a:r>
            <a:r>
              <a:rPr lang="en-US" sz="14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"model.joblib"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8C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сколько угодно раз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</a:t>
            </a:r>
            <a:r>
              <a:rPr lang="en-US" sz="1400" dirty="0">
                <a:solidFill>
                  <a:srgbClr val="6FD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.load(</a:t>
            </a:r>
            <a:r>
              <a:rPr lang="en-US" sz="14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"model.joblib"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живёт только в памяти процесса</a:t>
            </a:r>
            <a:endParaRPr lang="en-US" sz="3400" dirty="0"/>
          </a:p>
        </p:txBody>
      </p:sp>
      <p:sp>
        <p:nvSpPr>
          <p:cNvPr id="3" name="Step 1 card"/>
          <p:cNvSpPr/>
          <p:nvPr/>
        </p:nvSpPr>
        <p:spPr>
          <a:xfrm>
            <a:off x="548640" y="1600200"/>
            <a:ext cx="32918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Step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74520"/>
            <a:ext cx="640080" cy="640080"/>
          </a:xfrm>
          <a:prstGeom prst="rect">
            <a:avLst/>
          </a:prstGeom>
        </p:spPr>
      </p:pic>
      <p:sp>
        <p:nvSpPr>
          <p:cNvPr id="5" name="Step 1 head"/>
          <p:cNvSpPr txBox="1"/>
          <p:nvPr/>
        </p:nvSpPr>
        <p:spPr>
          <a:xfrm>
            <a:off x="8686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Обучение</a:t>
            </a:r>
            <a:endParaRPr lang="en-US" sz="2200" dirty="0"/>
          </a:p>
        </p:txBody>
      </p:sp>
      <p:sp>
        <p:nvSpPr>
          <p:cNvPr id="6" name="Step 1 sub"/>
          <p:cNvSpPr txBox="1"/>
          <p:nvPr/>
        </p:nvSpPr>
        <p:spPr>
          <a:xfrm>
            <a:off x="868680" y="3200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fit() — секунды… часы,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CPU / GPU, много памяти</a:t>
            </a:r>
            <a:endParaRPr lang="en-US" sz="1600" dirty="0"/>
          </a:p>
        </p:txBody>
      </p:sp>
      <p:pic>
        <p:nvPicPr>
          <p:cNvPr id="7" name="Arrow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072" y="2697480"/>
            <a:ext cx="292608" cy="292608"/>
          </a:xfrm>
          <a:prstGeom prst="rect">
            <a:avLst/>
          </a:prstGeom>
        </p:spPr>
      </p:pic>
      <p:sp>
        <p:nvSpPr>
          <p:cNvPr id="8" name="Step 2 card"/>
          <p:cNvSpPr/>
          <p:nvPr/>
        </p:nvSpPr>
        <p:spPr>
          <a:xfrm>
            <a:off x="4434840" y="1600200"/>
            <a:ext cx="32918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Step 2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1874520"/>
            <a:ext cx="640080" cy="640080"/>
          </a:xfrm>
          <a:prstGeom prst="rect">
            <a:avLst/>
          </a:prstGeom>
        </p:spPr>
      </p:pic>
      <p:sp>
        <p:nvSpPr>
          <p:cNvPr id="10" name="Step 2 head"/>
          <p:cNvSpPr txBox="1"/>
          <p:nvPr/>
        </p:nvSpPr>
        <p:spPr>
          <a:xfrm>
            <a:off x="47548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Файл на диске</a:t>
            </a:r>
            <a:endParaRPr lang="en-US" sz="2200" dirty="0"/>
          </a:p>
        </p:txBody>
      </p:sp>
      <p:sp>
        <p:nvSpPr>
          <p:cNvPr id="11" name="Step 2 sub"/>
          <p:cNvSpPr txBox="1"/>
          <p:nvPr/>
        </p:nvSpPr>
        <p:spPr>
          <a:xfrm>
            <a:off x="4754880" y="3200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model.joblib —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объект в виде байтов</a:t>
            </a:r>
            <a:endParaRPr lang="en-US" sz="1600" dirty="0"/>
          </a:p>
        </p:txBody>
      </p:sp>
      <p:pic>
        <p:nvPicPr>
          <p:cNvPr id="12" name="Arrow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2697480"/>
            <a:ext cx="292608" cy="292608"/>
          </a:xfrm>
          <a:prstGeom prst="rect">
            <a:avLst/>
          </a:prstGeom>
        </p:spPr>
      </p:pic>
      <p:sp>
        <p:nvSpPr>
          <p:cNvPr id="13" name="Step 3 card"/>
          <p:cNvSpPr/>
          <p:nvPr/>
        </p:nvSpPr>
        <p:spPr>
          <a:xfrm>
            <a:off x="8321040" y="1600200"/>
            <a:ext cx="3291840" cy="265176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Step 3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1874520"/>
            <a:ext cx="640080" cy="640080"/>
          </a:xfrm>
          <a:prstGeom prst="rect">
            <a:avLst/>
          </a:prstGeom>
        </p:spPr>
      </p:pic>
      <p:sp>
        <p:nvSpPr>
          <p:cNvPr id="15" name="Step 3 head"/>
          <p:cNvSpPr txBox="1"/>
          <p:nvPr/>
        </p:nvSpPr>
        <p:spPr>
          <a:xfrm>
            <a:off x="864108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Использование</a:t>
            </a:r>
            <a:endParaRPr lang="en-US" sz="2200" dirty="0"/>
          </a:p>
        </p:txBody>
      </p:sp>
      <p:sp>
        <p:nvSpPr>
          <p:cNvPr id="16" name="Step 3 sub"/>
          <p:cNvSpPr txBox="1"/>
          <p:nvPr/>
        </p:nvSpPr>
        <p:spPr>
          <a:xfrm>
            <a:off x="8641080" y="32004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predict() в сервисе,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скрипте, у коллеги</a:t>
            </a:r>
            <a:endParaRPr lang="en-US" sz="1600" dirty="0"/>
          </a:p>
        </p:txBody>
      </p:sp>
      <p:sp>
        <p:nvSpPr>
          <p:cNvPr id="17" name="Label dump"/>
          <p:cNvSpPr txBox="1"/>
          <p:nvPr/>
        </p:nvSpPr>
        <p:spPr>
          <a:xfrm>
            <a:off x="3703320" y="4343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8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dump()</a:t>
            </a:r>
            <a:endParaRPr lang="en-US" sz="1400" dirty="0"/>
          </a:p>
        </p:txBody>
      </p:sp>
      <p:sp>
        <p:nvSpPr>
          <p:cNvPr id="18" name="Label load"/>
          <p:cNvSpPr txBox="1"/>
          <p:nvPr/>
        </p:nvSpPr>
        <p:spPr>
          <a:xfrm>
            <a:off x="7589520" y="4343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5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load()</a:t>
            </a:r>
            <a:endParaRPr lang="en-US" sz="1400" dirty="0"/>
          </a:p>
        </p:txBody>
      </p:sp>
      <p:sp>
        <p:nvSpPr>
          <p:cNvPr id="19" name="Definition"/>
          <p:cNvSpPr txBox="1"/>
          <p:nvPr/>
        </p:nvSpPr>
        <p:spPr>
          <a:xfrm>
            <a:off x="548640" y="4983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Сериализация</a:t>
            </a:r>
            <a:r>
              <a:rPr lang="en-US" sz="1800" dirty="0">
                <a:solidFill>
                  <a:schemeClr val="tx1"/>
                </a:solidFill>
              </a:rPr>
              <a:t> — превращение объекта Python в последовательность байтов, которую можно записать в файл. </a:t>
            </a:r>
            <a:r>
              <a:rPr lang="en-US" sz="1800" b="1" dirty="0">
                <a:solidFill>
                  <a:schemeClr val="accent1"/>
                </a:solidFill>
              </a:rPr>
              <a:t>Десериализация</a:t>
            </a:r>
            <a:r>
              <a:rPr lang="en-US" sz="1800" dirty="0">
                <a:solidFill>
                  <a:schemeClr val="tx1"/>
                </a:solidFill>
              </a:rPr>
              <a:t> — восстановление объекта из этих байтов.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joblib — pickle, оптимизированный под numpy</a:t>
            </a:r>
            <a:endParaRPr lang="en-US" sz="3400" dirty="0"/>
          </a:p>
        </p:txBody>
      </p:sp>
      <p:sp>
        <p:nvSpPr>
          <p:cNvPr id="3" name="Joblib bullets"/>
          <p:cNvSpPr txBox="1"/>
          <p:nvPr/>
        </p:nvSpPr>
        <p:spPr>
          <a:xfrm>
            <a:off x="548640" y="150876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Библиотека из экосистемы scikit-learn; построена поверх стандартного модуля pickle.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Большие массивы numpy (веса, узлы деревьев) пишет в файл напрямую, отдельно от структуры объекта.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Установка: pip install joblib (ставится вместе со scikit-learn).</a:t>
            </a:r>
            <a:endParaRPr lang="en-US" sz="1800" dirty="0"/>
          </a:p>
        </p:txBody>
      </p:sp>
      <p:sp>
        <p:nvSpPr>
          <p:cNvPr id="4" name="Feature 1 card"/>
          <p:cNvSpPr/>
          <p:nvPr/>
        </p:nvSpPr>
        <p:spPr>
          <a:xfrm>
            <a:off x="5943600" y="1508760"/>
            <a:ext cx="56692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Feature 1 circle"/>
          <p:cNvSpPr/>
          <p:nvPr/>
        </p:nvSpPr>
        <p:spPr>
          <a:xfrm>
            <a:off x="6217920" y="1755648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Featur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38528"/>
            <a:ext cx="365760" cy="365760"/>
          </a:xfrm>
          <a:prstGeom prst="rect">
            <a:avLst/>
          </a:prstGeom>
        </p:spPr>
      </p:pic>
      <p:sp>
        <p:nvSpPr>
          <p:cNvPr id="7" name="Feature 1 head"/>
          <p:cNvSpPr txBox="1"/>
          <p:nvPr/>
        </p:nvSpPr>
        <p:spPr>
          <a:xfrm>
            <a:off x="7223760" y="1673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 / load</a:t>
            </a:r>
            <a:endParaRPr lang="en-US" sz="2000" dirty="0"/>
          </a:p>
        </p:txBody>
      </p:sp>
      <p:sp>
        <p:nvSpPr>
          <p:cNvPr id="8" name="Feature 1 sub"/>
          <p:cNvSpPr txBox="1"/>
          <p:nvPr/>
        </p:nvSpPr>
        <p:spPr>
          <a:xfrm>
            <a:off x="7223760" y="21031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Сохранить и загрузить объект одной строкой</a:t>
            </a:r>
            <a:endParaRPr lang="en-US" sz="1500" dirty="0"/>
          </a:p>
        </p:txBody>
      </p:sp>
      <p:sp>
        <p:nvSpPr>
          <p:cNvPr id="9" name="Feature 2 card"/>
          <p:cNvSpPr/>
          <p:nvPr/>
        </p:nvSpPr>
        <p:spPr>
          <a:xfrm>
            <a:off x="5943600" y="2971800"/>
            <a:ext cx="56692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Feature 2 circle"/>
          <p:cNvSpPr/>
          <p:nvPr/>
        </p:nvSpPr>
        <p:spPr>
          <a:xfrm>
            <a:off x="6217920" y="3218688"/>
            <a:ext cx="731520" cy="731520"/>
          </a:xfrm>
          <a:prstGeom prst="ellipse">
            <a:avLst/>
          </a:prstGeom>
          <a:solidFill>
            <a:srgbClr val="E889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Featur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401568"/>
            <a:ext cx="365760" cy="365760"/>
          </a:xfrm>
          <a:prstGeom prst="rect">
            <a:avLst/>
          </a:prstGeom>
        </p:spPr>
      </p:pic>
      <p:sp>
        <p:nvSpPr>
          <p:cNvPr id="12" name="Feature 2 head"/>
          <p:cNvSpPr txBox="1"/>
          <p:nvPr/>
        </p:nvSpPr>
        <p:spPr>
          <a:xfrm>
            <a:off x="7223760" y="31363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</a:t>
            </a:r>
            <a:endParaRPr lang="en-US" sz="2000" dirty="0"/>
          </a:p>
        </p:txBody>
      </p:sp>
      <p:sp>
        <p:nvSpPr>
          <p:cNvPr id="13" name="Feature 2 sub"/>
          <p:cNvSpPr txBox="1"/>
          <p:nvPr/>
        </p:nvSpPr>
        <p:spPr>
          <a:xfrm>
            <a:off x="7223760" y="356616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Встроенное сжатие: zlib, gzip, bz2, lzma, xz, lz4</a:t>
            </a:r>
            <a:endParaRPr lang="en-US" sz="1500" dirty="0"/>
          </a:p>
        </p:txBody>
      </p:sp>
      <p:sp>
        <p:nvSpPr>
          <p:cNvPr id="14" name="Feature 3 card"/>
          <p:cNvSpPr/>
          <p:nvPr/>
        </p:nvSpPr>
        <p:spPr>
          <a:xfrm>
            <a:off x="5943600" y="4434840"/>
            <a:ext cx="566928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Feature 3 circle"/>
          <p:cNvSpPr/>
          <p:nvPr/>
        </p:nvSpPr>
        <p:spPr>
          <a:xfrm>
            <a:off x="6217920" y="4681728"/>
            <a:ext cx="731520" cy="731520"/>
          </a:xfrm>
          <a:prstGeom prst="ellipse">
            <a:avLst/>
          </a:prstGeom>
          <a:solidFill>
            <a:srgbClr val="2E5E8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Featur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864608"/>
            <a:ext cx="365760" cy="365760"/>
          </a:xfrm>
          <a:prstGeom prst="rect">
            <a:avLst/>
          </a:prstGeom>
        </p:spPr>
      </p:pic>
      <p:sp>
        <p:nvSpPr>
          <p:cNvPr id="17" name="Feature 3 head"/>
          <p:cNvSpPr txBox="1"/>
          <p:nvPr/>
        </p:nvSpPr>
        <p:spPr>
          <a:xfrm>
            <a:off x="7223760" y="459943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mmap_mode</a:t>
            </a:r>
            <a:endParaRPr lang="en-US" sz="2000" dirty="0"/>
          </a:p>
        </p:txBody>
      </p:sp>
      <p:sp>
        <p:nvSpPr>
          <p:cNvPr id="18" name="Feature 3 sub"/>
          <p:cNvSpPr txBox="1"/>
          <p:nvPr/>
        </p:nvSpPr>
        <p:spPr>
          <a:xfrm>
            <a:off x="7223760" y="5029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Отображение файла в память: читать с диска по требованию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Сохранение: joblib.dump</a:t>
            </a:r>
            <a:endParaRPr lang="en-US" sz="3400" dirty="0"/>
          </a:p>
        </p:txBody>
      </p:sp>
      <p:sp>
        <p:nvSpPr>
          <p:cNvPr id="3" name="Save code panel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353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ave code dot 0"/>
          <p:cNvSpPr/>
          <p:nvPr/>
        </p:nvSpPr>
        <p:spPr>
          <a:xfrm>
            <a:off x="749808" y="1600200"/>
            <a:ext cx="109728" cy="109728"/>
          </a:xfrm>
          <a:prstGeom prst="ellipse">
            <a:avLst/>
          </a:prstGeom>
          <a:solidFill>
            <a:srgbClr val="E865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ave code dot 1"/>
          <p:cNvSpPr/>
          <p:nvPr/>
        </p:nvSpPr>
        <p:spPr>
          <a:xfrm>
            <a:off x="950976" y="1600200"/>
            <a:ext cx="109728" cy="109728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ave code dot 2"/>
          <p:cNvSpPr/>
          <p:nvPr/>
        </p:nvSpPr>
        <p:spPr>
          <a:xfrm>
            <a:off x="1152144" y="1600200"/>
            <a:ext cx="109728" cy="109728"/>
          </a:xfrm>
          <a:prstGeom prst="ellipse">
            <a:avLst/>
          </a:prstGeom>
          <a:solidFill>
            <a:srgbClr val="6BAA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ave code label"/>
          <p:cNvSpPr txBox="1"/>
          <p:nvPr/>
        </p:nvSpPr>
        <p:spPr>
          <a:xfrm>
            <a:off x="1417320" y="1490472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01_train_and_save.py</a:t>
            </a:r>
            <a:endParaRPr lang="en-US" sz="1100" dirty="0"/>
          </a:p>
        </p:txBody>
      </p:sp>
      <p:sp>
        <p:nvSpPr>
          <p:cNvPr id="8" name="Save code code"/>
          <p:cNvSpPr txBox="1"/>
          <p:nvPr/>
        </p:nvSpPr>
        <p:spPr>
          <a:xfrm>
            <a:off x="777240" y="1874520"/>
            <a:ext cx="65379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load_breast_cancer(return_X_y=</a:t>
            </a:r>
            <a:r>
              <a:rPr lang="en-US" sz="1400" dirty="0">
                <a:solidFill>
                  <a:srgbClr val="F0A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r>
              <a:rPr lang="en-US" sz="1400" dirty="0">
                <a:solidFill>
                  <a:srgbClr val="7F8C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569 x 30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</a:t>
            </a:r>
            <a:r>
              <a:rPr lang="en-US" sz="1400" dirty="0">
                <a:solidFill>
                  <a:srgbClr val="F2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random_state=</a:t>
            </a:r>
            <a:r>
              <a:rPr lang="en-US" sz="1400" dirty="0">
                <a:solidFill>
                  <a:srgbClr val="F2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7F8C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Сохраняем весь конвейер вместе с масштабированием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= Pipeline([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r>
              <a:rPr lang="en-US" sz="14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"scaler"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StandardScaler()),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r>
              <a:rPr lang="en-US" sz="14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"clf"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RandomForestClassifier(n_estimators=</a:t>
            </a:r>
            <a:r>
              <a:rPr lang="en-US" sz="1400" dirty="0">
                <a:solidFill>
                  <a:srgbClr val="F2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pipe.fit(X_train, y_train)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D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.dump(pipe, </a:t>
            </a:r>
            <a:r>
              <a:rPr lang="en-US" sz="14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"models/model.joblib"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D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.dump(pipe, </a:t>
            </a:r>
            <a:r>
              <a:rPr lang="en-US" sz="14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"models/model_compressed.joblib"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compress=</a:t>
            </a:r>
            <a:r>
              <a:rPr lang="en-US" sz="1400" dirty="0">
                <a:solidFill>
                  <a:srgbClr val="F2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ave output panel"/>
          <p:cNvSpPr/>
          <p:nvPr/>
        </p:nvSpPr>
        <p:spPr>
          <a:xfrm>
            <a:off x="7772400" y="1417320"/>
            <a:ext cx="3840480" cy="1920240"/>
          </a:xfrm>
          <a:prstGeom prst="roundRect">
            <a:avLst>
              <a:gd name="adj" fmla="val 5714"/>
            </a:avLst>
          </a:prstGeom>
          <a:solidFill>
            <a:srgbClr val="2A3140"/>
          </a:solidFill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ave output dot 0"/>
          <p:cNvSpPr/>
          <p:nvPr/>
        </p:nvSpPr>
        <p:spPr>
          <a:xfrm>
            <a:off x="7973568" y="1600200"/>
            <a:ext cx="109728" cy="109728"/>
          </a:xfrm>
          <a:prstGeom prst="ellipse">
            <a:avLst/>
          </a:prstGeom>
          <a:solidFill>
            <a:srgbClr val="E865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ave output dot 1"/>
          <p:cNvSpPr/>
          <p:nvPr/>
        </p:nvSpPr>
        <p:spPr>
          <a:xfrm>
            <a:off x="8174736" y="1600200"/>
            <a:ext cx="109728" cy="109728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ave output dot 2"/>
          <p:cNvSpPr/>
          <p:nvPr/>
        </p:nvSpPr>
        <p:spPr>
          <a:xfrm>
            <a:off x="8375904" y="1600200"/>
            <a:ext cx="109728" cy="109728"/>
          </a:xfrm>
          <a:prstGeom prst="ellipse">
            <a:avLst/>
          </a:prstGeom>
          <a:solidFill>
            <a:srgbClr val="6BAA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ave output label"/>
          <p:cNvSpPr txBox="1"/>
          <p:nvPr/>
        </p:nvSpPr>
        <p:spPr>
          <a:xfrm>
            <a:off x="8641080" y="149047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вывод</a:t>
            </a:r>
            <a:endParaRPr lang="en-US" sz="1100" dirty="0"/>
          </a:p>
        </p:txBody>
      </p:sp>
      <p:sp>
        <p:nvSpPr>
          <p:cNvPr id="14" name="Save output code"/>
          <p:cNvSpPr txBox="1"/>
          <p:nvPr/>
        </p:nvSpPr>
        <p:spPr>
          <a:xfrm>
            <a:off x="8001000" y="187452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Обучение: 0.31 с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0.9474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dump: 0.041 с, размер 949 КБ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со сжатием: 188 КБ</a:t>
            </a:r>
            <a:endParaRPr lang="en-US" sz="1200" dirty="0"/>
          </a:p>
        </p:txBody>
      </p:sp>
      <p:sp>
        <p:nvSpPr>
          <p:cNvPr id="15" name="Save stat value"/>
          <p:cNvSpPr txBox="1"/>
          <p:nvPr/>
        </p:nvSpPr>
        <p:spPr>
          <a:xfrm>
            <a:off x="7772400" y="3657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949 → 188 КБ</a:t>
            </a:r>
            <a:endParaRPr lang="en-US" sz="4000" dirty="0"/>
          </a:p>
        </p:txBody>
      </p:sp>
      <p:sp>
        <p:nvSpPr>
          <p:cNvPr id="16" name="Save stat label"/>
          <p:cNvSpPr txBox="1"/>
          <p:nvPr/>
        </p:nvSpPr>
        <p:spPr>
          <a:xfrm>
            <a:off x="7772400" y="440740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файл с compress=3 в 5 раз меньше</a:t>
            </a:r>
            <a:endParaRPr lang="en-US" sz="1400" dirty="0"/>
          </a:p>
        </p:txBody>
      </p:sp>
      <p:sp>
        <p:nvSpPr>
          <p:cNvPr id="17" name="Save hint"/>
          <p:cNvSpPr txBox="1"/>
          <p:nvPr/>
        </p:nvSpPr>
        <p:spPr>
          <a:xfrm>
            <a:off x="7772400" y="50749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Только классификатор без scaler — частая ошибка: модель «забудет» масштабирование.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Загрузка: joblib.load — и сразу predict</a:t>
            </a:r>
            <a:endParaRPr lang="en-US" sz="3400" dirty="0"/>
          </a:p>
        </p:txBody>
      </p:sp>
      <p:sp>
        <p:nvSpPr>
          <p:cNvPr id="3" name="Load code panel"/>
          <p:cNvSpPr/>
          <p:nvPr/>
        </p:nvSpPr>
        <p:spPr>
          <a:xfrm>
            <a:off x="548640" y="1417320"/>
            <a:ext cx="6172200" cy="3246120"/>
          </a:xfrm>
          <a:prstGeom prst="roundRect">
            <a:avLst>
              <a:gd name="adj" fmla="val 3380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Load code dot 0"/>
          <p:cNvSpPr/>
          <p:nvPr/>
        </p:nvSpPr>
        <p:spPr>
          <a:xfrm>
            <a:off x="749808" y="1600200"/>
            <a:ext cx="109728" cy="109728"/>
          </a:xfrm>
          <a:prstGeom prst="ellipse">
            <a:avLst/>
          </a:prstGeom>
          <a:solidFill>
            <a:srgbClr val="E865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Load code dot 1"/>
          <p:cNvSpPr/>
          <p:nvPr/>
        </p:nvSpPr>
        <p:spPr>
          <a:xfrm>
            <a:off x="950976" y="1600200"/>
            <a:ext cx="109728" cy="109728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Load code dot 2"/>
          <p:cNvSpPr/>
          <p:nvPr/>
        </p:nvSpPr>
        <p:spPr>
          <a:xfrm>
            <a:off x="1152144" y="1600200"/>
            <a:ext cx="109728" cy="109728"/>
          </a:xfrm>
          <a:prstGeom prst="ellipse">
            <a:avLst/>
          </a:prstGeom>
          <a:solidFill>
            <a:srgbClr val="6BAA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Load code label"/>
          <p:cNvSpPr txBox="1"/>
          <p:nvPr/>
        </p:nvSpPr>
        <p:spPr>
          <a:xfrm>
            <a:off x="1417320" y="1490472"/>
            <a:ext cx="5074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02_load_and_predict.py</a:t>
            </a:r>
            <a:endParaRPr lang="en-US" sz="1100" dirty="0"/>
          </a:p>
        </p:txBody>
      </p:sp>
      <p:sp>
        <p:nvSpPr>
          <p:cNvPr id="8" name="Load code code"/>
          <p:cNvSpPr txBox="1"/>
          <p:nvPr/>
        </p:nvSpPr>
        <p:spPr>
          <a:xfrm>
            <a:off x="777240" y="1874520"/>
            <a:ext cx="5760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</a:t>
            </a:r>
            <a:r>
              <a:rPr lang="en-US" sz="1200" dirty="0">
                <a:solidFill>
                  <a:srgbClr val="6FD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.load(</a:t>
            </a:r>
            <a:r>
              <a:rPr lang="en-US" sz="12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"models/model.joblib"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</a:t>
            </a:r>
            <a:r>
              <a:rPr lang="en-US" sz="1200" dirty="0">
                <a:solidFill>
                  <a:srgbClr val="7F8C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fit() не нужен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2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"Тип:       "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type(model).__name__)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2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"Шаги:      "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list(model.named_steps))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load_breast_cancer(return_X_y=</a:t>
            </a:r>
            <a:r>
              <a:rPr lang="en-US" sz="1200" dirty="0">
                <a:solidFill>
                  <a:srgbClr val="F0A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2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"predict:   "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model.predict(X[:</a:t>
            </a:r>
            <a:r>
              <a:rPr lang="en-US" sz="1200" dirty="0">
                <a:solidFill>
                  <a:srgbClr val="F2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2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"истинные:  "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y[:</a:t>
            </a:r>
            <a:r>
              <a:rPr lang="en-US" sz="1200" dirty="0">
                <a:solidFill>
                  <a:srgbClr val="F2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proba = model.predict_proba(X[:</a:t>
            </a:r>
            <a:r>
              <a:rPr lang="en-US" sz="1200" dirty="0">
                <a:solidFill>
                  <a:srgbClr val="F2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2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"P(класс 1):"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proba[:, </a:t>
            </a:r>
            <a:r>
              <a:rPr lang="en-US" sz="1200" dirty="0">
                <a:solidFill>
                  <a:srgbClr val="F2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].round(</a:t>
            </a:r>
            <a:r>
              <a:rPr lang="en-US" sz="1200" dirty="0">
                <a:solidFill>
                  <a:srgbClr val="F2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2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200" dirty="0"/>
          </a:p>
        </p:txBody>
      </p:sp>
      <p:sp>
        <p:nvSpPr>
          <p:cNvPr id="9" name="Load output panel"/>
          <p:cNvSpPr/>
          <p:nvPr/>
        </p:nvSpPr>
        <p:spPr>
          <a:xfrm>
            <a:off x="6949440" y="1417320"/>
            <a:ext cx="4663440" cy="2011680"/>
          </a:xfrm>
          <a:prstGeom prst="roundRect">
            <a:avLst>
              <a:gd name="adj" fmla="val 5455"/>
            </a:avLst>
          </a:prstGeom>
          <a:solidFill>
            <a:srgbClr val="2A3140"/>
          </a:solidFill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Load output dot 0"/>
          <p:cNvSpPr/>
          <p:nvPr/>
        </p:nvSpPr>
        <p:spPr>
          <a:xfrm>
            <a:off x="7150608" y="1600200"/>
            <a:ext cx="109728" cy="109728"/>
          </a:xfrm>
          <a:prstGeom prst="ellipse">
            <a:avLst/>
          </a:prstGeom>
          <a:solidFill>
            <a:srgbClr val="E865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Load output dot 1"/>
          <p:cNvSpPr/>
          <p:nvPr/>
        </p:nvSpPr>
        <p:spPr>
          <a:xfrm>
            <a:off x="7351776" y="1600200"/>
            <a:ext cx="109728" cy="109728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Load output dot 2"/>
          <p:cNvSpPr/>
          <p:nvPr/>
        </p:nvSpPr>
        <p:spPr>
          <a:xfrm>
            <a:off x="7552944" y="1600200"/>
            <a:ext cx="109728" cy="109728"/>
          </a:xfrm>
          <a:prstGeom prst="ellipse">
            <a:avLst/>
          </a:prstGeom>
          <a:solidFill>
            <a:srgbClr val="6BAA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Load output label"/>
          <p:cNvSpPr txBox="1"/>
          <p:nvPr/>
        </p:nvSpPr>
        <p:spPr>
          <a:xfrm>
            <a:off x="7818120" y="14904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вывод</a:t>
            </a:r>
            <a:endParaRPr lang="en-US" sz="1100" dirty="0"/>
          </a:p>
        </p:txBody>
      </p:sp>
      <p:sp>
        <p:nvSpPr>
          <p:cNvPr id="14" name="Load output code"/>
          <p:cNvSpPr txBox="1"/>
          <p:nvPr/>
        </p:nvSpPr>
        <p:spPr>
          <a:xfrm>
            <a:off x="7178040" y="1874520"/>
            <a:ext cx="4251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Тип:        Pipeline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Шаги:       ['scaler', 'clf']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predict:    [0 0 0 0 0]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истинные:   [0 0 0 0 0]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9D1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P(класс 1): [0.043 0.01  0.    0.107 0.03 ]</a:t>
            </a:r>
            <a:endParaRPr lang="en-US" sz="1200" dirty="0"/>
          </a:p>
        </p:txBody>
      </p:sp>
      <p:sp>
        <p:nvSpPr>
          <p:cNvPr id="15" name="Predict card"/>
          <p:cNvSpPr/>
          <p:nvPr/>
        </p:nvSpPr>
        <p:spPr>
          <a:xfrm>
            <a:off x="6949440" y="3611880"/>
            <a:ext cx="4663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Predict text"/>
          <p:cNvSpPr txBox="1"/>
          <p:nvPr/>
        </p:nvSpPr>
        <p:spPr>
          <a:xfrm>
            <a:off x="7132320" y="3730752"/>
            <a:ext cx="4343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r>
              <a:rPr lang="en-US" sz="1400" dirty="0">
                <a:solidFill>
                  <a:schemeClr val="tx1"/>
                </a:solidFill>
              </a:rPr>
              <a:t> — класс для каждого объекта: 0 — злокачественная, 1 — доброкачественная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predict_proba</a:t>
            </a:r>
            <a:r>
              <a:rPr lang="en-US" sz="1400" dirty="0">
                <a:solidFill>
                  <a:schemeClr val="tx1"/>
                </a:solidFill>
              </a:rPr>
              <a:t> — вероятность каждого класса; [:, 1] — столбец класса 1. 0.043 → «злокачественная» с уверенностью 95,7%</a:t>
            </a:r>
            <a:endParaRPr lang="en-US" sz="1400" dirty="0"/>
          </a:p>
        </p:txBody>
      </p:sp>
      <p:sp>
        <p:nvSpPr>
          <p:cNvPr id="17" name="Load takeaway"/>
          <p:cNvSpPr txBox="1"/>
          <p:nvPr/>
        </p:nvSpPr>
        <p:spPr>
          <a:xfrm>
            <a:off x="548640" y="4892040"/>
            <a:ext cx="6172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Рядом с моделью — </a:t>
            </a:r>
            <a:r>
              <a:rPr lang="en-US" sz="16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model_meta.json</a:t>
            </a:r>
            <a:r>
              <a:rPr lang="en-US" sz="1600" dirty="0">
                <a:solidFill>
                  <a:schemeClr val="tx1"/>
                </a:solidFill>
              </a:rPr>
              <a:t>: версии sklearn и joblib, accuracy. При загрузке версия сверяется.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compress: уровни 1–9 на модели 83 МБ</a:t>
            </a:r>
            <a:endParaRPr lang="en-US" sz="3400" dirty="0"/>
          </a:p>
        </p:txBody>
      </p:sp>
      <p:sp>
        <p:nvSpPr>
          <p:cNvPr id="3" name="Legend zlib dot"/>
          <p:cNvSpPr/>
          <p:nvPr/>
        </p:nvSpPr>
        <p:spPr>
          <a:xfrm>
            <a:off x="548640" y="1307592"/>
            <a:ext cx="164592" cy="164592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Legend zlib"/>
          <p:cNvSpPr txBox="1"/>
          <p:nvPr/>
        </p:nvSpPr>
        <p:spPr>
          <a:xfrm>
            <a:off x="786384" y="12070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zlib</a:t>
            </a:r>
            <a:endParaRPr lang="en-US" sz="1500" dirty="0"/>
          </a:p>
        </p:txBody>
      </p:sp>
      <p:sp>
        <p:nvSpPr>
          <p:cNvPr id="5" name="Legend bz2 dot"/>
          <p:cNvSpPr/>
          <p:nvPr/>
        </p:nvSpPr>
        <p:spPr>
          <a:xfrm>
            <a:off x="1783080" y="1307592"/>
            <a:ext cx="164592" cy="164592"/>
          </a:xfrm>
          <a:prstGeom prst="ellipse">
            <a:avLst/>
          </a:prstGeom>
          <a:solidFill>
            <a:srgbClr val="2E5E8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Legend bz2"/>
          <p:cNvSpPr txBox="1"/>
          <p:nvPr/>
        </p:nvSpPr>
        <p:spPr>
          <a:xfrm>
            <a:off x="2020824" y="12070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bz2</a:t>
            </a:r>
            <a:endParaRPr lang="en-US" sz="1500" dirty="0"/>
          </a:p>
        </p:txBody>
      </p:sp>
      <p:sp>
        <p:nvSpPr>
          <p:cNvPr id="7" name="Legend lzma dot"/>
          <p:cNvSpPr/>
          <p:nvPr/>
        </p:nvSpPr>
        <p:spPr>
          <a:xfrm>
            <a:off x="3017520" y="1307592"/>
            <a:ext cx="164592" cy="164592"/>
          </a:xfrm>
          <a:prstGeom prst="ellipse">
            <a:avLst/>
          </a:prstGeom>
          <a:solidFill>
            <a:srgbClr val="E8892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Legend lzma"/>
          <p:cNvSpPr txBox="1"/>
          <p:nvPr/>
        </p:nvSpPr>
        <p:spPr>
          <a:xfrm>
            <a:off x="3255264" y="12070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lzma</a:t>
            </a:r>
            <a:endParaRPr lang="en-US" sz="1500" dirty="0"/>
          </a:p>
        </p:txBody>
      </p:sp>
      <p:sp>
        <p:nvSpPr>
          <p:cNvPr id="9" name="Legend lz4 dot"/>
          <p:cNvSpPr/>
          <p:nvPr/>
        </p:nvSpPr>
        <p:spPr>
          <a:xfrm>
            <a:off x="4251960" y="1307592"/>
            <a:ext cx="164592" cy="164592"/>
          </a:xfrm>
          <a:prstGeom prst="ellipse">
            <a:avLst/>
          </a:prstGeom>
          <a:solidFill>
            <a:srgbClr val="6BAA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Legend lz4"/>
          <p:cNvSpPr txBox="1"/>
          <p:nvPr/>
        </p:nvSpPr>
        <p:spPr>
          <a:xfrm>
            <a:off x="4489704" y="12070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lz4</a:t>
            </a:r>
            <a:endParaRPr lang="en-US" sz="1500" dirty="0"/>
          </a:p>
        </p:txBody>
      </p:sp>
      <p:sp>
        <p:nvSpPr>
          <p:cNvPr id="11" name="Legend note"/>
          <p:cNvSpPr txBox="1"/>
          <p:nvPr/>
        </p:nvSpPr>
        <p:spPr>
          <a:xfrm>
            <a:off x="5577840" y="120700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675"/>
                </a:solidFill>
              </a:rPr>
              <a:t>без сжатия: 83,2 МБ, dump 48 мс, load 88 мс</a:t>
            </a:r>
            <a:endParaRPr lang="en-US" sz="12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411480" y="1645920"/>
          <a:ext cx="37947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"/>
          <p:cNvGraphicFramePr/>
          <p:nvPr/>
        </p:nvGraphicFramePr>
        <p:xfrm>
          <a:off x="4251960" y="1645920"/>
          <a:ext cx="37947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 2"/>
          <p:cNvGraphicFramePr/>
          <p:nvPr/>
        </p:nvGraphicFramePr>
        <p:xfrm>
          <a:off x="8092440" y="1645920"/>
          <a:ext cx="379476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Comp stat 1 value"/>
          <p:cNvSpPr txBox="1"/>
          <p:nvPr/>
        </p:nvSpPr>
        <p:spPr>
          <a:xfrm>
            <a:off x="548640" y="4892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zlib-3: 17,8 МБ</a:t>
            </a:r>
            <a:endParaRPr lang="en-US" sz="3000" dirty="0"/>
          </a:p>
        </p:txBody>
      </p:sp>
      <p:sp>
        <p:nvSpPr>
          <p:cNvPr id="16" name="Comp stat 1 label"/>
          <p:cNvSpPr txBox="1"/>
          <p:nvPr/>
        </p:nvSpPr>
        <p:spPr>
          <a:xfrm>
            <a:off x="548640" y="5641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в 4,7 раза меньше за 681 мс — точка перегиба</a:t>
            </a:r>
            <a:endParaRPr lang="en-US" sz="1400" dirty="0"/>
          </a:p>
        </p:txBody>
      </p:sp>
      <p:sp>
        <p:nvSpPr>
          <p:cNvPr id="17" name="Comp stat 2 value"/>
          <p:cNvSpPr txBox="1"/>
          <p:nvPr/>
        </p:nvSpPr>
        <p:spPr>
          <a:xfrm>
            <a:off x="4343400" y="48920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zlib-9: ×31 время</a:t>
            </a:r>
            <a:endParaRPr lang="en-US" sz="3000" dirty="0"/>
          </a:p>
        </p:txBody>
      </p:sp>
      <p:sp>
        <p:nvSpPr>
          <p:cNvPr id="18" name="Comp stat 2 label"/>
          <p:cNvSpPr txBox="1"/>
          <p:nvPr/>
        </p:nvSpPr>
        <p:spPr>
          <a:xfrm>
            <a:off x="4343400" y="56418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21 с ради −1,8 МБ; lzma-9 — 8,6 МБ за 26 с</a:t>
            </a:r>
            <a:endParaRPr lang="en-US" sz="1400" dirty="0"/>
          </a:p>
        </p:txBody>
      </p:sp>
      <p:sp>
        <p:nvSpPr>
          <p:cNvPr id="19" name="Comp stat 3 value"/>
          <p:cNvSpPr txBox="1"/>
          <p:nvPr/>
        </p:nvSpPr>
        <p:spPr>
          <a:xfrm>
            <a:off x="8138160" y="4892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×3,3</a:t>
            </a:r>
            <a:endParaRPr lang="en-US" sz="3000" dirty="0"/>
          </a:p>
        </p:txBody>
      </p:sp>
      <p:sp>
        <p:nvSpPr>
          <p:cNvPr id="20" name="Comp stat 3 label"/>
          <p:cNvSpPr txBox="1"/>
          <p:nvPr/>
        </p:nvSpPr>
        <p:spPr>
          <a:xfrm>
            <a:off x="8138160" y="56418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плата за сжатие: распаковка при каждой загрузке (bz2 — ×11)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mmap_mode: читать с диска только нужное</a:t>
            </a:r>
            <a:endParaRPr lang="en-US" sz="3400" dirty="0"/>
          </a:p>
        </p:txBody>
      </p:sp>
      <p:sp>
        <p:nvSpPr>
          <p:cNvPr id="3" name="Mmap code panel"/>
          <p:cNvSpPr/>
          <p:nvPr/>
        </p:nvSpPr>
        <p:spPr>
          <a:xfrm>
            <a:off x="548640" y="1417320"/>
            <a:ext cx="6309360" cy="3566160"/>
          </a:xfrm>
          <a:prstGeom prst="roundRect">
            <a:avLst>
              <a:gd name="adj" fmla="val 3077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Mmap code dot 0"/>
          <p:cNvSpPr/>
          <p:nvPr/>
        </p:nvSpPr>
        <p:spPr>
          <a:xfrm>
            <a:off x="749808" y="1600200"/>
            <a:ext cx="109728" cy="109728"/>
          </a:xfrm>
          <a:prstGeom prst="ellipse">
            <a:avLst/>
          </a:prstGeom>
          <a:solidFill>
            <a:srgbClr val="E865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Mmap code dot 1"/>
          <p:cNvSpPr/>
          <p:nvPr/>
        </p:nvSpPr>
        <p:spPr>
          <a:xfrm>
            <a:off x="950976" y="1600200"/>
            <a:ext cx="109728" cy="109728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Mmap code dot 2"/>
          <p:cNvSpPr/>
          <p:nvPr/>
        </p:nvSpPr>
        <p:spPr>
          <a:xfrm>
            <a:off x="1152144" y="1600200"/>
            <a:ext cx="109728" cy="109728"/>
          </a:xfrm>
          <a:prstGeom prst="ellipse">
            <a:avLst/>
          </a:prstGeom>
          <a:solidFill>
            <a:srgbClr val="6BAA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Mmap code label"/>
          <p:cNvSpPr txBox="1"/>
          <p:nvPr/>
        </p:nvSpPr>
        <p:spPr>
          <a:xfrm>
            <a:off x="1417320" y="14904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04_mmap_large_arrays.py</a:t>
            </a:r>
            <a:endParaRPr lang="en-US" sz="1100" dirty="0"/>
          </a:p>
        </p:txBody>
      </p:sp>
      <p:sp>
        <p:nvSpPr>
          <p:cNvPr id="8" name="Mmap code code"/>
          <p:cNvSpPr txBox="1"/>
          <p:nvPr/>
        </p:nvSpPr>
        <p:spPr>
          <a:xfrm>
            <a:off x="777240" y="1874520"/>
            <a:ext cx="5897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{</a:t>
            </a:r>
            <a:r>
              <a:rPr lang="en-US" sz="13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"embeddings"</a:t>
            </a: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rng.random((20_000, 2_000))}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C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305 МБ; сохраняем без compress!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FD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.dump(data, </a:t>
            </a:r>
            <a:r>
              <a:rPr lang="en-US" sz="13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"big.joblib"</a:t>
            </a: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C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обычный load: читает с диска весь файл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= </a:t>
            </a:r>
            <a:r>
              <a:rPr lang="en-US" sz="1300" dirty="0">
                <a:solidFill>
                  <a:srgbClr val="6FD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.load(</a:t>
            </a:r>
            <a:r>
              <a:rPr lang="en-US" sz="13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"big.joblib"</a:t>
            </a: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C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mmap: только «привязывает» файл к памяти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mapped = </a:t>
            </a:r>
            <a:r>
              <a:rPr lang="en-US" sz="1300" dirty="0">
                <a:solidFill>
                  <a:srgbClr val="6FD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.load(</a:t>
            </a:r>
            <a:r>
              <a:rPr lang="en-US" sz="13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"big.joblib"</a:t>
            </a: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mmap_mode=</a:t>
            </a:r>
            <a:r>
              <a:rPr lang="en-US" sz="13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7F8C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чтение с диска — здесь, и только строки 123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 = mapped[</a:t>
            </a:r>
            <a:r>
              <a:rPr lang="en-US" sz="13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"embeddings"</a:t>
            </a: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300" dirty="0">
                <a:solidFill>
                  <a:srgbClr val="F2C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</a:t>
            </a:r>
            <a:r>
              <a:rPr lang="en-US" sz="13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300" dirty="0"/>
          </a:p>
        </p:txBody>
      </p:sp>
      <p:graphicFrame>
        <p:nvGraphicFramePr>
          <p:cNvPr id="9" name="Mma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417320"/>
          <a:ext cx="4480560" cy="22860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мс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обычный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mmap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load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104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0,31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+ строка 123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0,01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0,02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= итого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104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0,34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load + весь массив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124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83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Mmap caption"/>
          <p:cNvSpPr txBox="1"/>
          <p:nvPr/>
        </p:nvSpPr>
        <p:spPr>
          <a:xfrm>
            <a:off x="7132320" y="3794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</a:rPr>
              <a:t>медиана 5 прогонов, каждый в отдельном процессе</a:t>
            </a:r>
            <a:endParaRPr lang="en-US" sz="1100" dirty="0"/>
          </a:p>
        </p:txBody>
      </p:sp>
      <p:sp>
        <p:nvSpPr>
          <p:cNvPr id="11" name="Mmap stat"/>
          <p:cNvSpPr txBox="1"/>
          <p:nvPr/>
        </p:nvSpPr>
        <p:spPr>
          <a:xfrm>
            <a:off x="7132320" y="416052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×310</a:t>
            </a:r>
            <a:endParaRPr lang="en-US" sz="30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быстрее, если нужна часть данных; если читать всё — выигрыш почти исчезает</a:t>
            </a:r>
            <a:endParaRPr lang="en-US" sz="3000" dirty="0"/>
          </a:p>
        </p:txBody>
      </p:sp>
      <p:pic>
        <p:nvPicPr>
          <p:cNvPr id="12" name="Mmap warn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40680"/>
            <a:ext cx="365760" cy="365760"/>
          </a:xfrm>
          <a:prstGeom prst="rect">
            <a:avLst/>
          </a:prstGeom>
        </p:spPr>
      </p:pic>
      <p:sp>
        <p:nvSpPr>
          <p:cNvPr id="13" name="Mmap limit"/>
          <p:cNvSpPr txBox="1"/>
          <p:nvPr/>
        </p:nvSpPr>
        <p:spPr>
          <a:xfrm>
            <a:off x="1051560" y="53675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Работает только с несжатыми файлами: компактность или ленивая загрузка — выбирать одно.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joblib vs pickle: выигрыш — в памяти</a:t>
            </a:r>
            <a:endParaRPr lang="en-US" sz="3400" dirty="0"/>
          </a:p>
        </p:txBody>
      </p:sp>
      <p:graphicFrame>
        <p:nvGraphicFramePr>
          <p:cNvPr id="9" name="Compa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269748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Модель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pickle: dump / load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joblib: dump / load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joblib+mmap: load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доп. RAM: обычно / mmap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Лес, датасет из примера</a:t>
                      </a:r>
                      <a:endParaRPr lang="en-US" sz="1500" dirty="0"/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1,1 МБ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4,5 мс / 4,4 мс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40 мс / 27 мс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95 мс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 МБ / 8 МБ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Лес, 100 тыс. объектов</a:t>
                      </a:r>
                      <a:endParaRPr lang="en-US" sz="1500" dirty="0"/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83,2 МБ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23 мс / 56 мс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42 мс / 75 мс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82 мс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167 МБ / 168 МБ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kNN, хранит выборку</a:t>
                      </a:r>
                      <a:endParaRPr lang="en-US" sz="1500" dirty="0"/>
                    </a:p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501 МБ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394 мс / 153 мс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250 мс / 167 мс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0,5 мс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501 МБ / 0 МБ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able caption"/>
          <p:cNvSpPr txBox="1"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675"/>
                </a:solidFill>
              </a:rPr>
              <a:t>pickle — протокол 5; протокол 4 (по умолчанию в Python ≤ 3.13) на kNN: dump 544 мс. Замеры: Windows 11, 20 потоков, 16 ГБ RAM, Python 3.11.9, scikit-learn 1.9.1, joblib 1.6.0</a:t>
            </a:r>
            <a:endParaRPr lang="en-US" sz="1100" dirty="0"/>
          </a:p>
        </p:txBody>
      </p:sp>
      <p:sp>
        <p:nvSpPr>
          <p:cNvPr id="5" name="Fmt card 1"/>
          <p:cNvSpPr/>
          <p:nvPr/>
        </p:nvSpPr>
        <p:spPr>
          <a:xfrm>
            <a:off x="548640" y="46634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Fmt text 1"/>
          <p:cNvSpPr txBox="1"/>
          <p:nvPr/>
        </p:nvSpPr>
        <p:spPr>
          <a:xfrm>
            <a:off x="731520" y="4754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По скорости — паритет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на деревьях pickle даже быстрее: joblib тратит время на поиск массивов внутри объекта</a:t>
            </a:r>
            <a:endParaRPr lang="en-US" sz="1700" dirty="0"/>
          </a:p>
        </p:txBody>
      </p:sp>
      <p:sp>
        <p:nvSpPr>
          <p:cNvPr id="7" name="Fmt card 2"/>
          <p:cNvSpPr/>
          <p:nvPr/>
        </p:nvSpPr>
        <p:spPr>
          <a:xfrm>
            <a:off x="4297680" y="46634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Fmt text 2"/>
          <p:cNvSpPr txBox="1"/>
          <p:nvPr/>
        </p:nvSpPr>
        <p:spPr>
          <a:xfrm>
            <a:off x="4480560" y="4754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mmap спасает память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kNN открывается за 0,5 мс и не занимает RAM; 4 процесса сервиса делят одну копию</a:t>
            </a:r>
            <a:endParaRPr lang="en-US" sz="1700" dirty="0"/>
          </a:p>
        </p:txBody>
      </p:sp>
      <p:sp>
        <p:nvSpPr>
          <p:cNvPr id="3" name="Fmt card 3"/>
          <p:cNvSpPr/>
          <p:nvPr/>
        </p:nvSpPr>
        <p:spPr>
          <a:xfrm>
            <a:off x="8046720" y="466344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Fmt text 3"/>
          <p:cNvSpPr txBox="1"/>
          <p:nvPr/>
        </p:nvSpPr>
        <p:spPr>
          <a:xfrm>
            <a:off x="8229600" y="47548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…но не для деревьев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узлы деревьев sklearn копируются в свои структуры, mmap им не помогает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Подводные камни: безопасность и версии</a:t>
            </a:r>
            <a:endParaRPr lang="en-US" sz="3400" dirty="0"/>
          </a:p>
        </p:txBody>
      </p:sp>
      <p:sp>
        <p:nvSpPr>
          <p:cNvPr id="3" name="Sec code panel"/>
          <p:cNvSpPr/>
          <p:nvPr/>
        </p:nvSpPr>
        <p:spPr>
          <a:xfrm>
            <a:off x="548640" y="1417320"/>
            <a:ext cx="6309360" cy="3154680"/>
          </a:xfrm>
          <a:prstGeom prst="roundRect">
            <a:avLst>
              <a:gd name="adj" fmla="val 3478"/>
            </a:avLst>
          </a:prstGeom>
          <a:solidFill>
            <a:srgbClr val="1E2430"/>
          </a:solidFill>
          <a:ln w="12700">
            <a:solidFill>
              <a:srgbClr val="1E243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Sec code dot 0"/>
          <p:cNvSpPr/>
          <p:nvPr/>
        </p:nvSpPr>
        <p:spPr>
          <a:xfrm>
            <a:off x="749808" y="1600200"/>
            <a:ext cx="109728" cy="109728"/>
          </a:xfrm>
          <a:prstGeom prst="ellipse">
            <a:avLst/>
          </a:prstGeom>
          <a:solidFill>
            <a:srgbClr val="E865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ec code dot 1"/>
          <p:cNvSpPr/>
          <p:nvPr/>
        </p:nvSpPr>
        <p:spPr>
          <a:xfrm>
            <a:off x="950976" y="1600200"/>
            <a:ext cx="109728" cy="109728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ec code dot 2"/>
          <p:cNvSpPr/>
          <p:nvPr/>
        </p:nvSpPr>
        <p:spPr>
          <a:xfrm>
            <a:off x="1152144" y="1600200"/>
            <a:ext cx="109728" cy="109728"/>
          </a:xfrm>
          <a:prstGeom prst="ellipse">
            <a:avLst/>
          </a:prstGeom>
          <a:solidFill>
            <a:srgbClr val="6BAA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ec code label"/>
          <p:cNvSpPr txBox="1"/>
          <p:nvPr/>
        </p:nvSpPr>
        <p:spPr>
          <a:xfrm>
            <a:off x="1417320" y="149047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05_security_demo.py</a:t>
            </a:r>
            <a:endParaRPr lang="en-US" sz="1100" dirty="0"/>
          </a:p>
        </p:txBody>
      </p:sp>
      <p:sp>
        <p:nvSpPr>
          <p:cNvPr id="8" name="Sec code code"/>
          <p:cNvSpPr txBox="1"/>
          <p:nvPr/>
        </p:nvSpPr>
        <p:spPr>
          <a:xfrm>
            <a:off x="777240" y="1874520"/>
            <a:ext cx="58978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</a:t>
            </a:r>
            <a:r>
              <a:rPr lang="en-US" sz="14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"!!! Этот код выполнился при joblib.load() !!!"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0A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FakeModel: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0A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__reduce__(self):     </a:t>
            </a:r>
            <a:r>
              <a:rPr lang="en-US" sz="1400" dirty="0">
                <a:solidFill>
                  <a:srgbClr val="7F8C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его вызывает pickle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0A3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(print, (MSG,))  </a:t>
            </a:r>
            <a:r>
              <a:rPr lang="en-US" sz="1400" dirty="0">
                <a:solidFill>
                  <a:srgbClr val="7F8C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«вызови print»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D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.dump(FakeModel(), </a:t>
            </a:r>
            <a:r>
              <a:rPr lang="en-US" sz="14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"suspicious_model.joblib"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FD0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joblib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.load(</a:t>
            </a:r>
            <a:r>
              <a:rPr lang="en-US" sz="1400" dirty="0">
                <a:solidFill>
                  <a:srgbClr val="9A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"suspicious_model.joblib"</a:t>
            </a:r>
            <a:r>
              <a:rPr lang="en-US" sz="1400" dirty="0">
                <a:solidFill>
                  <a:srgbClr val="E6E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</p:txBody>
      </p:sp>
      <p:sp>
        <p:nvSpPr>
          <p:cNvPr id="9" name="Sec output panel"/>
          <p:cNvSpPr/>
          <p:nvPr/>
        </p:nvSpPr>
        <p:spPr>
          <a:xfrm>
            <a:off x="548640" y="4754880"/>
            <a:ext cx="6309360" cy="1325880"/>
          </a:xfrm>
          <a:prstGeom prst="roundRect">
            <a:avLst>
              <a:gd name="adj" fmla="val 8276"/>
            </a:avLst>
          </a:prstGeom>
          <a:solidFill>
            <a:srgbClr val="2A3140"/>
          </a:solidFill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ec output dot 0"/>
          <p:cNvSpPr/>
          <p:nvPr/>
        </p:nvSpPr>
        <p:spPr>
          <a:xfrm>
            <a:off x="749808" y="4937760"/>
            <a:ext cx="109728" cy="109728"/>
          </a:xfrm>
          <a:prstGeom prst="ellipse">
            <a:avLst/>
          </a:prstGeom>
          <a:solidFill>
            <a:srgbClr val="E8655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ec output dot 1"/>
          <p:cNvSpPr/>
          <p:nvPr/>
        </p:nvSpPr>
        <p:spPr>
          <a:xfrm>
            <a:off x="950976" y="4937760"/>
            <a:ext cx="109728" cy="109728"/>
          </a:xfrm>
          <a:prstGeom prst="ellipse">
            <a:avLst/>
          </a:prstGeom>
          <a:solidFill>
            <a:srgbClr val="E8B04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ec output dot 2"/>
          <p:cNvSpPr/>
          <p:nvPr/>
        </p:nvSpPr>
        <p:spPr>
          <a:xfrm>
            <a:off x="1152144" y="4937760"/>
            <a:ext cx="109728" cy="109728"/>
          </a:xfrm>
          <a:prstGeom prst="ellipse">
            <a:avLst/>
          </a:prstGeom>
          <a:solidFill>
            <a:srgbClr val="6BAA75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ec output label"/>
          <p:cNvSpPr txBox="1"/>
          <p:nvPr/>
        </p:nvSpPr>
        <p:spPr>
          <a:xfrm>
            <a:off x="1417320" y="4828032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7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вывод</a:t>
            </a:r>
            <a:endParaRPr lang="en-US" sz="1100" dirty="0"/>
          </a:p>
        </p:txBody>
      </p:sp>
      <p:sp>
        <p:nvSpPr>
          <p:cNvPr id="14" name="Sec output code"/>
          <p:cNvSpPr txBox="1"/>
          <p:nvPr/>
        </p:nvSpPr>
        <p:spPr>
          <a:xfrm>
            <a:off x="777240" y="5212080"/>
            <a:ext cx="5897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A0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!!! Этот код выполнился при joblib.load() !!!</a:t>
            </a:r>
            <a:endParaRPr lang="en-US" sz="1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2A09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Что вернул load: None</a:t>
            </a:r>
            <a:endParaRPr lang="en-US" sz="1300" dirty="0"/>
          </a:p>
        </p:txBody>
      </p:sp>
      <p:sp>
        <p:nvSpPr>
          <p:cNvPr id="15" name="Rule 1 circle"/>
          <p:cNvSpPr/>
          <p:nvPr/>
        </p:nvSpPr>
        <p:spPr>
          <a:xfrm>
            <a:off x="7223760" y="1463040"/>
            <a:ext cx="685800" cy="6858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Rule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1636776"/>
            <a:ext cx="338328" cy="338328"/>
          </a:xfrm>
          <a:prstGeom prst="rect">
            <a:avLst/>
          </a:prstGeom>
        </p:spPr>
      </p:pic>
      <p:sp>
        <p:nvSpPr>
          <p:cNvPr id="17" name="Rule 1 head"/>
          <p:cNvSpPr txBox="1"/>
          <p:nvPr/>
        </p:nvSpPr>
        <p:spPr>
          <a:xfrm>
            <a:off x="8138160" y="144475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Только доверенные файлы</a:t>
            </a:r>
            <a:endParaRPr lang="en-US" sz="1900" dirty="0"/>
          </a:p>
        </p:txBody>
      </p:sp>
      <p:sp>
        <p:nvSpPr>
          <p:cNvPr id="18" name="Rule 1 sub"/>
          <p:cNvSpPr txBox="1"/>
          <p:nvPr/>
        </p:nvSpPr>
        <p:spPr>
          <a:xfrm>
            <a:off x="8138160" y="1874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на месте print мог быть любой вызов, например os.system</a:t>
            </a:r>
            <a:endParaRPr lang="en-US" sz="1400" dirty="0"/>
          </a:p>
        </p:txBody>
      </p:sp>
      <p:sp>
        <p:nvSpPr>
          <p:cNvPr id="19" name="Rule 2 circle"/>
          <p:cNvSpPr/>
          <p:nvPr/>
        </p:nvSpPr>
        <p:spPr>
          <a:xfrm>
            <a:off x="7223760" y="3017520"/>
            <a:ext cx="685800" cy="685800"/>
          </a:xfrm>
          <a:prstGeom prst="ellipse">
            <a:avLst/>
          </a:prstGeom>
          <a:solidFill>
            <a:srgbClr val="2E5E8C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Rule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3191256"/>
            <a:ext cx="338328" cy="338328"/>
          </a:xfrm>
          <a:prstGeom prst="rect">
            <a:avLst/>
          </a:prstGeom>
        </p:spPr>
      </p:pic>
      <p:sp>
        <p:nvSpPr>
          <p:cNvPr id="21" name="Rule 2 head"/>
          <p:cNvSpPr txBox="1"/>
          <p:nvPr/>
        </p:nvSpPr>
        <p:spPr>
          <a:xfrm>
            <a:off x="8138160" y="299923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Фиксируйте версии</a:t>
            </a:r>
            <a:endParaRPr lang="en-US" sz="1900" dirty="0"/>
          </a:p>
        </p:txBody>
      </p:sp>
      <p:sp>
        <p:nvSpPr>
          <p:cNvPr id="22" name="Rule 2 sub"/>
          <p:cNvSpPr txBox="1"/>
          <p:nvPr/>
        </p:nvSpPr>
        <p:spPr>
          <a:xfrm>
            <a:off x="813816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другая версия sklearn → InconsistentVersionWarning, возможны ошибки</a:t>
            </a:r>
            <a:endParaRPr lang="en-US" sz="1400" dirty="0"/>
          </a:p>
        </p:txBody>
      </p:sp>
      <p:sp>
        <p:nvSpPr>
          <p:cNvPr id="23" name="Rule 3 circle"/>
          <p:cNvSpPr/>
          <p:nvPr/>
        </p:nvSpPr>
        <p:spPr>
          <a:xfrm>
            <a:off x="7223760" y="4572000"/>
            <a:ext cx="685800" cy="6858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4" name="Rule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4745736"/>
            <a:ext cx="338328" cy="338328"/>
          </a:xfrm>
          <a:prstGeom prst="rect">
            <a:avLst/>
          </a:prstGeom>
        </p:spPr>
      </p:pic>
      <p:sp>
        <p:nvSpPr>
          <p:cNvPr id="25" name="Rule 3 head"/>
          <p:cNvSpPr txBox="1"/>
          <p:nvPr/>
        </p:nvSpPr>
        <p:spPr>
          <a:xfrm>
            <a:off x="8138160" y="45537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Альтернативы</a:t>
            </a:r>
            <a:endParaRPr lang="en-US" sz="1900" dirty="0"/>
          </a:p>
        </p:txBody>
      </p:sp>
      <p:sp>
        <p:nvSpPr>
          <p:cNvPr id="26" name="Rule 3 sub"/>
          <p:cNvSpPr txBox="1"/>
          <p:nvPr/>
        </p:nvSpPr>
        <p:spPr>
          <a:xfrm>
            <a:off x="8138160" y="49834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skops.io — проверяет типы при загрузке; ONNX — формат вне Python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4000" dirty="0"/>
          </a:p>
        </p:txBody>
      </p:sp>
      <p:sp>
        <p:nvSpPr>
          <p:cNvPr id="3" name="Sum 1 circle"/>
          <p:cNvSpPr/>
          <p:nvPr/>
        </p:nvSpPr>
        <p:spPr>
          <a:xfrm>
            <a:off x="640080" y="1655064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Sum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755648"/>
            <a:ext cx="210312" cy="210312"/>
          </a:xfrm>
          <a:prstGeom prst="rect">
            <a:avLst/>
          </a:prstGeom>
        </p:spPr>
      </p:pic>
      <p:sp>
        <p:nvSpPr>
          <p:cNvPr id="5" name="Sum 1 text"/>
          <p:cNvSpPr txBox="1"/>
          <p:nvPr/>
        </p:nvSpPr>
        <p:spPr>
          <a:xfrm>
            <a:off x="1280160" y="160020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joblib.dump / joblib.load</a:t>
            </a:r>
            <a:r>
              <a:rPr lang="en-US" sz="1900" dirty="0">
                <a:solidFill>
                  <a:schemeClr val="bg2"/>
                </a:solidFill>
              </a:rPr>
              <a:t> — сохранение и загрузка одной строкой</a:t>
            </a:r>
            <a:endParaRPr lang="en-US" sz="1900" dirty="0"/>
          </a:p>
        </p:txBody>
      </p:sp>
      <p:sp>
        <p:nvSpPr>
          <p:cNvPr id="6" name="Sum 2 circle"/>
          <p:cNvSpPr/>
          <p:nvPr/>
        </p:nvSpPr>
        <p:spPr>
          <a:xfrm>
            <a:off x="640080" y="2340864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Sum 2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441448"/>
            <a:ext cx="210312" cy="210312"/>
          </a:xfrm>
          <a:prstGeom prst="rect">
            <a:avLst/>
          </a:prstGeom>
        </p:spPr>
      </p:pic>
      <p:sp>
        <p:nvSpPr>
          <p:cNvPr id="8" name="Sum 2 text"/>
          <p:cNvSpPr txBox="1"/>
          <p:nvPr/>
        </p:nvSpPr>
        <p:spPr>
          <a:xfrm>
            <a:off x="1280160" y="228600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Pipeline целиком</a:t>
            </a:r>
            <a:r>
              <a:rPr lang="en-US" sz="1900" dirty="0">
                <a:solidFill>
                  <a:schemeClr val="bg2"/>
                </a:solidFill>
              </a:rPr>
              <a:t> — вместе с предобработкой</a:t>
            </a:r>
            <a:endParaRPr lang="en-US" sz="1900" dirty="0"/>
          </a:p>
        </p:txBody>
      </p:sp>
      <p:sp>
        <p:nvSpPr>
          <p:cNvPr id="9" name="Sum 3 circle"/>
          <p:cNvSpPr/>
          <p:nvPr/>
        </p:nvSpPr>
        <p:spPr>
          <a:xfrm>
            <a:off x="640080" y="3026664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Sum 3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127248"/>
            <a:ext cx="210312" cy="210312"/>
          </a:xfrm>
          <a:prstGeom prst="rect">
            <a:avLst/>
          </a:prstGeom>
        </p:spPr>
      </p:pic>
      <p:sp>
        <p:nvSpPr>
          <p:cNvPr id="11" name="Sum 3 text"/>
          <p:cNvSpPr txBox="1"/>
          <p:nvPr/>
        </p:nvSpPr>
        <p:spPr>
          <a:xfrm>
            <a:off x="1280160" y="297180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compress=3</a:t>
            </a:r>
            <a:r>
              <a:rPr lang="en-US" sz="1900" dirty="0">
                <a:solidFill>
                  <a:schemeClr val="bg2"/>
                </a:solidFill>
              </a:rPr>
              <a:t> — если важен размер файла</a:t>
            </a:r>
            <a:endParaRPr lang="en-US" sz="1900" dirty="0"/>
          </a:p>
        </p:txBody>
      </p:sp>
      <p:sp>
        <p:nvSpPr>
          <p:cNvPr id="12" name="Sum 4 circle"/>
          <p:cNvSpPr/>
          <p:nvPr/>
        </p:nvSpPr>
        <p:spPr>
          <a:xfrm>
            <a:off x="640080" y="3712464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Sum 4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813048"/>
            <a:ext cx="210312" cy="210312"/>
          </a:xfrm>
          <a:prstGeom prst="rect">
            <a:avLst/>
          </a:prstGeom>
        </p:spPr>
      </p:pic>
      <p:sp>
        <p:nvSpPr>
          <p:cNvPr id="14" name="Sum 4 text"/>
          <p:cNvSpPr txBox="1"/>
          <p:nvPr/>
        </p:nvSpPr>
        <p:spPr>
          <a:xfrm>
            <a:off x="1280160" y="365760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mmap_mode="r"</a:t>
            </a:r>
            <a:r>
              <a:rPr lang="en-US" sz="1900" dirty="0">
                <a:solidFill>
                  <a:schemeClr val="bg2"/>
                </a:solidFill>
              </a:rPr>
              <a:t> — большие массивы: быстро и без лишней RAM</a:t>
            </a:r>
            <a:endParaRPr lang="en-US" sz="1900" dirty="0"/>
          </a:p>
        </p:txBody>
      </p:sp>
      <p:sp>
        <p:nvSpPr>
          <p:cNvPr id="15" name="Sum 5 circle"/>
          <p:cNvSpPr/>
          <p:nvPr/>
        </p:nvSpPr>
        <p:spPr>
          <a:xfrm>
            <a:off x="640080" y="4398264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Sum 5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498848"/>
            <a:ext cx="210312" cy="210312"/>
          </a:xfrm>
          <a:prstGeom prst="rect">
            <a:avLst/>
          </a:prstGeom>
        </p:spPr>
      </p:pic>
      <p:sp>
        <p:nvSpPr>
          <p:cNvPr id="17" name="Sum 5 text"/>
          <p:cNvSpPr txBox="1"/>
          <p:nvPr/>
        </p:nvSpPr>
        <p:spPr>
          <a:xfrm>
            <a:off x="1280160" y="434340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Версии в метаданные</a:t>
            </a:r>
            <a:r>
              <a:rPr lang="en-US" sz="1900" dirty="0">
                <a:solidFill>
                  <a:schemeClr val="bg2"/>
                </a:solidFill>
              </a:rPr>
              <a:t> — и зафиксировать в requirements.txt</a:t>
            </a:r>
            <a:endParaRPr lang="en-US" sz="1900" dirty="0"/>
          </a:p>
        </p:txBody>
      </p:sp>
      <p:sp>
        <p:nvSpPr>
          <p:cNvPr id="18" name="Sum 6 circle"/>
          <p:cNvSpPr/>
          <p:nvPr/>
        </p:nvSpPr>
        <p:spPr>
          <a:xfrm>
            <a:off x="640080" y="5084064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9" name="Sum 6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5184648"/>
            <a:ext cx="210312" cy="210312"/>
          </a:xfrm>
          <a:prstGeom prst="rect">
            <a:avLst/>
          </a:prstGeom>
        </p:spPr>
      </p:pic>
      <p:sp>
        <p:nvSpPr>
          <p:cNvPr id="20" name="Sum 6 text"/>
          <p:cNvSpPr txBox="1"/>
          <p:nvPr/>
        </p:nvSpPr>
        <p:spPr>
          <a:xfrm>
            <a:off x="1280160" y="502920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Не загружать чужие файлы</a:t>
            </a:r>
            <a:r>
              <a:rPr lang="en-US" sz="1900" dirty="0">
                <a:solidFill>
                  <a:schemeClr val="bg2"/>
                </a:solidFill>
              </a:rPr>
              <a:t> — pickle исполняет код</a:t>
            </a:r>
            <a:endParaRPr lang="en-US" sz="1900" dirty="0"/>
          </a:p>
        </p:txBody>
      </p:sp>
      <p:sp>
        <p:nvSpPr>
          <p:cNvPr id="21" name="Thanks"/>
          <p:cNvSpPr txBox="1"/>
          <p:nvPr/>
        </p:nvSpPr>
        <p:spPr>
          <a:xfrm>
            <a:off x="8412480" y="23774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4000" b="1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</a:t>
            </a:r>
            <a:r>
              <a:rPr lang="en-US" sz="4000" b="1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4000" dirty="0"/>
          </a:p>
        </p:txBody>
      </p:sp>
      <p:sp>
        <p:nvSpPr>
          <p:cNvPr id="22" name="Code note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Код: папка 03_code, запуск всего — run_benchmarks.bat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blib Ink">
  <a:themeElements>
    <a:clrScheme name="Joblib Ink">
      <a:dk1>
        <a:srgbClr val="1A1F2B"/>
      </a:dk1>
      <a:lt1>
        <a:srgbClr val="FFFFFF"/>
      </a:lt1>
      <a:dk2>
        <a:srgbClr val="123047"/>
      </a:dk2>
      <a:lt2>
        <a:srgbClr val="EEF3F6"/>
      </a:lt2>
      <a:accent1>
        <a:srgbClr val="0E7C7B"/>
      </a:accent1>
      <a:accent2>
        <a:srgbClr val="E8892B"/>
      </a:accent2>
      <a:accent3>
        <a:srgbClr val="8A97A8"/>
      </a:accent3>
      <a:accent4>
        <a:srgbClr val="C0392B"/>
      </a:accent4>
      <a:accent5>
        <a:srgbClr val="2E5E8C"/>
      </a:accent5>
      <a:accent6>
        <a:srgbClr val="6BAA75"/>
      </a:accent6>
      <a:hlink>
        <a:srgbClr val="0E7C7B"/>
      </a:hlink>
      <a:folHlink>
        <a:srgbClr val="2E5E8C"/>
      </a:folHlink>
    </a:clrScheme>
    <a:fontScheme name="Joblib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1344</Words>
  <Application>Microsoft Office PowerPoint</Application>
  <PresentationFormat>Widescreen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Consolas</vt:lpstr>
      <vt:lpstr>Joblib Ink</vt:lpstr>
      <vt:lpstr>Сохранение и загрузка обученной модели с помощью joblib</vt:lpstr>
      <vt:lpstr>Модель живёт только в памяти процесса</vt:lpstr>
      <vt:lpstr>joblib — pickle, оптимизированный под numpy</vt:lpstr>
      <vt:lpstr>Сохранение: joblib.dump</vt:lpstr>
      <vt:lpstr>Загрузка: joblib.load — и сразу predict</vt:lpstr>
      <vt:lpstr>compress: уровни 1–9 на модели 83 МБ</vt:lpstr>
      <vt:lpstr>mmap_mode: читать с диска только нужное</vt:lpstr>
      <vt:lpstr>joblib vs pickle: выигрыш — в памяти</vt:lpstr>
      <vt:lpstr>Подводные камни: безопасность и версии</vt:lpstr>
      <vt:lpstr>Итоги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Сохранение и загрузка обученной модели с помощью joblib</dc:title>
  <dc:subject>PptxGenJS Presentation</dc:subject>
  <dc:creator>Глеб</dc:creator>
  <cp:lastModifiedBy>Глеб Гусев</cp:lastModifiedBy>
  <cp:revision>3</cp:revision>
  <dcterms:created xsi:type="dcterms:W3CDTF">2026-10-17T22:02:04Z</dcterms:created>
  <dcterms:modified xsi:type="dcterms:W3CDTF">2026-10-26T09:29:33Z</dcterms:modified>
</cp:coreProperties>
</file>